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(0:00, sem slide). Boa tarde. Em três minutos eu vou mostrar por que uma mulher no interior de Goiás hoje não tem para onde ligar, e o que a gente fez sobre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(0:00 a 0:20). Duas da manhã, no interior de Goiás. Marina foi ameaçada de novo pelo ex-companheiro. A delegacia mais próxima está a 303 quilômetros. E a maior parte das delegacias do interior fecha às 18h.
Em Goiás existem três Salas Lilás. Três, em 246 municípios. 243 não têm.
E ela não vai ligar 180 às duas da manhã. Ligar exige coragem para falar, e coragem não se cobra por telefone.
No mapa, o quadradinho em branco é o município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É UMA SALA LILÁS (0:20 a 0:40). É uma sala dentro da delegacia, com médica legista, enfermeira e assistente social. A mulher é acolhida ali, sem repetir a história para gente nova.
Se esse é o melhor acolhimento que existe no Brasil, o problema não é o serviço. É a cobertura dele.
Se perguntarem: em Goiás são três, em Anápolis, Aparecida de Goiânia e Goiânia.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NÃO BASTA LIGAR 180 (0:40 a 0:55). Porque 180 é um número, não um plano. Ele não guarda nada: amanhã ela começa do zero. E não sabe o que está aberto agora a 300 quilômetros.
A Cássia não substitui o 180: ela é o que fica depois. Quem tem coragem de ligar 180 na Cássia vira a pessoa mais bem atendida da rede.
Para a banca: esta resposta leva 10 segundos e já está pronta.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SOLUÇÃO (0:55 a 1:10). Cássia é a Sala Lilás virtualizada. A casca muda, o cérebro não. Mesmo acolhimento, mesmas fontes oficiais, mesma revisão humana: no celular, na hora em que a mulher decide falar.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COFRE (1:10 a 1:25). E tem uma coisa que nenhum formulário tem: o cofre. Pode levar anos para uma mulher entender que tem saída. A Cássia guarda o relato cifrado, com um código só dela, sem prazo curto, até ela estar pronta. Formulário apressa. Cofre espera.
O que entra: as mensagens como ela contou. O que nunca entra: nome, telefone e dado de terceiros.
O slide mostra o desenho da chave: a chave de dados nunca é gravada junto do texto, e apagar o cofre apaga a chave.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 DO AGENTE (1:25 a 1:45). Um roteador lê a intenção. Um especialista extrai o que foi dito e pergunta a próxima lacuna. Outro consulta a rede real do município. A Verificadora confere cada frase do resumo contra a mensagem original. A Continuidade guarda no cofre. Nenhum deles classifica risco nem aciona polícia.
Se perguntarem quantos são: nove, mais o Guardião de segurança, que roda fora do modelo. E dá para mostrar qual chamada produziu cada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SE O RELATO FOR FALSO (1:45 a 2:00). A IA não classifica risco, não aciona polícia e não gera denúncia. Cada frase do resumo carrega o trecho literal e o número da mensagem. "Não sei" nunca vira "não". A verificação não descobre se a história é verdadeira: ela garante a procedência e devolve a decisão à profissional.
Resposta curta: a Cássia não decide e não denuncia. Quem decide é a profissional, no tempo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MODO DISCRETO (15 segundos, se a demo passar rápido). Quando o celular não é só dela, uma tela com a palavra violência entrega tudo. A Cássia troca a casca: a tela vira calculadora, bloco de notas ou conversa com uma amiga. O giroscópio avisa quando o aparelho muda de mãos e a tela se mascara sozinha. E o botão de saída rápida, que apaga tudo num toque. Não identifica ninguém e não aciona ninguém: a Cássia nunca aciona a polícia.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(2:00 a 2:30). Mapa da rede: 246 municípios, três camadas. Rota: onde dá para parar e onde não dá. Relato: a Joana conta, e a Cássia extrai nove campos. Cofre: guardado, cifrado. Painel: a equipe vê a origem de cada frase. Modo discreto: a tela vira calculadora.
Gesto: no painel, mostre o "Relatado" com o trecho literal e o "Não perguntado" que nunca virou "não". No cofre, mostre o código e a frase de que só ela abre.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NEGÓCIO (2:30 a 2:45). Cliente: governo estadual, prefeituras e a Polícia Científica. A mulher nunca paga, nunca cria cadastro, nunca entrega telefone. Implantação por unidade e operação da rede. O ativo próprio: o mapa dos 246 municípios, verificado e versionado.
Se perguntarem o indicador: o tempo de verificação humana por atendimento. O ganho real é derrubar esse custo.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PEDIDO (2:45 a 3:00). Um termo de cooperação com uma Sala Lilás e um advisor de assistência social. Três meses de piloto em dois municípios, sem custo para a mulher.
E fecho assim: três Salas Lilás e 243 municípios sem. A Sala Lilás deixa de ser endereço e vira software. Obrigado.
Aos poucos: a lista dos 243 municípios, o desenho do cofre e o contrato de tool estão no PDF de apoio e no protótipo.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0"/>
            <a:ext cx="3520440" cy="5143500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AKCIT CAMP MULTICÊNTRICO 2026  ·  CENTRO-OESTE  ·  GOIÂNIA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Cássia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66928" y="1938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Sala Lilás virtualizada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25420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acolhimento que existe em três enderehos vira software e passa a existir em todo lugar.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3456432"/>
            <a:ext cx="822960" cy="4572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639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Cássia  ·  24/10/2026  ·  AKCIT For Startups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53328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MESMO CEREBRO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53328" y="1078992"/>
            <a:ext cx="2697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2161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53328" y="1682496"/>
            <a:ext cx="2697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819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TOTEM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2286000"/>
            <a:ext cx="2697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2423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53328" y="2889504"/>
            <a:ext cx="2697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30266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 DE SAÚDE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53328" y="3493008"/>
            <a:ext cx="2697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3630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RODOVIÁRIA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53328" y="4224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mesmas fontes oficiais  ·  mesma rede  ·  mesma revisão humana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5143500"/>
          </a:xfrm>
          <a:prstGeom prst="rect">
            <a:avLst/>
          </a:prstGeom>
          <a:solidFill>
            <a:srgbClr val="1F1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246 municípios de Goiás não têm Sala Lilás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" cy="4572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9352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D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salas Lilás em todo o estado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2095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D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delegacias da mulher (DEAM)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4838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D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delegacias com plantão 24 horas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7581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D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municípios sem nenhuma rede especializada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" y="4041648"/>
            <a:ext cx="3456432" cy="896112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13308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violência não tem horário de expediente.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572000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delegacias do interior atendem das 8h às 12h e das 14h às 18h, de segunda a sexta.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0" y="3657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MAPA COMPARATIVO DA REDE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5852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Delegacia, DEAM, Sala Lilás.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80560" y="8778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quadradinho é um município de Goiás, agrupado por região de atendimento.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26280" y="1152144"/>
            <a:ext cx="91440" cy="91440"/>
          </a:xfrm>
          <a:prstGeom prst="rect">
            <a:avLst/>
          </a:prstGeom>
          <a:solidFill>
            <a:srgbClr val="4B2E83"/>
          </a:solidFill>
          <a:ln w="6350">
            <a:solidFill>
              <a:srgbClr val="4B2E8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2798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34179" y="1152144"/>
            <a:ext cx="91440" cy="91440"/>
          </a:xfrm>
          <a:prstGeom prst="rect">
            <a:avLst/>
          </a:prstGeom>
          <a:solidFill>
            <a:srgbClr val="4B2E83"/>
          </a:solidFill>
          <a:ln w="6350">
            <a:solidFill>
              <a:srgbClr val="4B2E8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0697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42078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68596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9978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76495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57877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65776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92294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73675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00193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81574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89474" y="1152144"/>
            <a:ext cx="91440" cy="91440"/>
          </a:xfrm>
          <a:prstGeom prst="rect">
            <a:avLst/>
          </a:prstGeom>
          <a:solidFill>
            <a:srgbClr val="4B2E83"/>
          </a:solidFill>
          <a:ln w="6350">
            <a:solidFill>
              <a:srgbClr val="4B2E8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97373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23890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05272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31790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13171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39689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21070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47588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28970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55487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36869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44768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2667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60566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87084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68466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76365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02882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84264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10782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92163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00062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26580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07962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15861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42378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23760" y="1152144"/>
            <a:ext cx="91440" cy="91440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50278" y="1178662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31659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439558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547458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655357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63256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71155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79054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86954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194853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02752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410651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518550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626450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734349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42248" y="1152144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26280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34179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742078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49978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57877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65776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173675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281574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389474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97373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605272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713171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821070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928970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036869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44768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252667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60566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468466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76365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84264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792163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900062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007962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115861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223760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331659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39558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547458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655357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763256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871155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979054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086954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94853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302752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410651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518550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626450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734349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842248" y="1260043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526280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634179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42078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849978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957877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065776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73675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281574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389474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497373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605272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13171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21070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928970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036869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144768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252667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360566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468466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576365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684264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792163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900062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007962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115861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223760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331659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439558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547458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655357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763256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871155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79054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086954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194853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302752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410651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518550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626450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734349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42248" y="13679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526280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634179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742078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849978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957877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065776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173675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281574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389474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497373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605272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713171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821070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928970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036869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144768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252667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60566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68466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576365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84264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792163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900062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007962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15861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223760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331659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439558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547458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655357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763256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871155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979054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8086954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8194853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8302752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410651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518550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626450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734349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842248" y="1475842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526280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634179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742078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4849978" y="1583741"/>
            <a:ext cx="91440" cy="91440"/>
          </a:xfrm>
          <a:prstGeom prst="rect">
            <a:avLst/>
          </a:prstGeom>
          <a:solidFill>
            <a:srgbClr val="6FA8C7"/>
          </a:solidFill>
          <a:ln w="6350">
            <a:solidFill>
              <a:srgbClr val="6FA8C7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876495" y="1610258"/>
            <a:ext cx="38405" cy="38405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957877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065776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5173675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5281574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5389474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5497373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5605272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5713171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5821070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5928970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036869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144768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252667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360566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6468466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576365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84264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792163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900062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007962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115861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223760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331659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439558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547458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655357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7763256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7871155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7979054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086954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194853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302752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410651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518550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26450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734349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842248" y="1583741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526280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634179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742078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849978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4957877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5065776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5173675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5281574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5389474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5497373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5605272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5713171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5821070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928970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6036869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6144768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6252667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6360566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6468466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6576365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6684264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6792163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6900062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7007962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115861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223760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331659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7439558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7547458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7655357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763256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7871155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7979054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086954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194853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302752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10651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518550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26450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734349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842248" y="1691640"/>
            <a:ext cx="91440" cy="91440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4480560" y="1975104"/>
            <a:ext cx="109728" cy="109728"/>
          </a:xfrm>
          <a:prstGeom prst="rect">
            <a:avLst/>
          </a:prstGeom>
          <a:solidFill>
            <a:srgbClr val="4B2E83"/>
          </a:solidFill>
          <a:ln w="6350">
            <a:solidFill>
              <a:srgbClr val="4B2E83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4645152" y="19476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Lilás</a:t>
            </a:r>
            <a:endParaRPr lang="en-US" sz="760" dirty="0"/>
          </a:p>
        </p:txBody>
      </p:sp>
      <p:sp>
        <p:nvSpPr>
          <p:cNvPr id="287" name="Text 285"/>
          <p:cNvSpPr/>
          <p:nvPr/>
        </p:nvSpPr>
        <p:spPr>
          <a:xfrm>
            <a:off x="4645152" y="20939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60" dirty="0"/>
          </a:p>
        </p:txBody>
      </p:sp>
      <p:sp>
        <p:nvSpPr>
          <p:cNvPr id="288" name="Shape 286"/>
          <p:cNvSpPr/>
          <p:nvPr/>
        </p:nvSpPr>
        <p:spPr>
          <a:xfrm>
            <a:off x="5605272" y="1975104"/>
            <a:ext cx="109728" cy="109728"/>
          </a:xfrm>
          <a:prstGeom prst="rect">
            <a:avLst/>
          </a:prstGeom>
          <a:solidFill>
            <a:srgbClr val="9A6BD1"/>
          </a:solidFill>
          <a:ln w="6350">
            <a:solidFill>
              <a:srgbClr val="9A6BD1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5769864" y="19476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DEAM</a:t>
            </a:r>
            <a:endParaRPr lang="en-US" sz="760" dirty="0"/>
          </a:p>
        </p:txBody>
      </p:sp>
      <p:sp>
        <p:nvSpPr>
          <p:cNvPr id="290" name="Text 288"/>
          <p:cNvSpPr/>
          <p:nvPr/>
        </p:nvSpPr>
        <p:spPr>
          <a:xfrm>
            <a:off x="5769864" y="20939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60" dirty="0"/>
          </a:p>
        </p:txBody>
      </p:sp>
      <p:sp>
        <p:nvSpPr>
          <p:cNvPr id="291" name="Shape 289"/>
          <p:cNvSpPr/>
          <p:nvPr/>
        </p:nvSpPr>
        <p:spPr>
          <a:xfrm>
            <a:off x="6729984" y="1975104"/>
            <a:ext cx="109728" cy="109728"/>
          </a:xfrm>
          <a:prstGeom prst="rect">
            <a:avLst/>
          </a:prstGeom>
          <a:solidFill>
            <a:srgbClr val="6FA8C7"/>
          </a:solidFill>
          <a:ln w="6350">
            <a:solidFill>
              <a:srgbClr val="6FA8C7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6894576" y="19476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Delegacia 24h</a:t>
            </a:r>
            <a:endParaRPr lang="en-US" sz="760" dirty="0"/>
          </a:p>
        </p:txBody>
      </p:sp>
      <p:sp>
        <p:nvSpPr>
          <p:cNvPr id="293" name="Text 291"/>
          <p:cNvSpPr/>
          <p:nvPr/>
        </p:nvSpPr>
        <p:spPr>
          <a:xfrm>
            <a:off x="6894576" y="20939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60" dirty="0"/>
          </a:p>
        </p:txBody>
      </p:sp>
      <p:sp>
        <p:nvSpPr>
          <p:cNvPr id="294" name="Shape 292"/>
          <p:cNvSpPr/>
          <p:nvPr/>
        </p:nvSpPr>
        <p:spPr>
          <a:xfrm>
            <a:off x="7854696" y="1975104"/>
            <a:ext cx="109728" cy="109728"/>
          </a:xfrm>
          <a:prstGeom prst="rect">
            <a:avLst/>
          </a:prstGeom>
          <a:solidFill>
            <a:srgbClr val="E4E0EE"/>
          </a:solidFill>
          <a:ln w="6350">
            <a:solidFill>
              <a:srgbClr val="E4E0EE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8019288" y="19476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rede</a:t>
            </a:r>
            <a:endParaRPr lang="en-US" sz="760" dirty="0"/>
          </a:p>
        </p:txBody>
      </p:sp>
      <p:sp>
        <p:nvSpPr>
          <p:cNvPr id="296" name="Text 294"/>
          <p:cNvSpPr/>
          <p:nvPr/>
        </p:nvSpPr>
        <p:spPr>
          <a:xfrm>
            <a:off x="8019288" y="20939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</a:t>
            </a:r>
            <a:endParaRPr lang="en-US" sz="760" dirty="0"/>
          </a:p>
        </p:txBody>
      </p:sp>
      <p:sp>
        <p:nvSpPr>
          <p:cNvPr id="297" name="Text 295"/>
          <p:cNvSpPr/>
          <p:nvPr/>
        </p:nvSpPr>
        <p:spPr>
          <a:xfrm>
            <a:off x="4480560" y="225856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branco: plantão 24 horas</a:t>
            </a:r>
            <a:endParaRPr lang="en-US" sz="780" dirty="0"/>
          </a:p>
        </p:txBody>
      </p:sp>
      <p:sp>
        <p:nvSpPr>
          <p:cNvPr id="298" name="Shape 296"/>
          <p:cNvSpPr/>
          <p:nvPr/>
        </p:nvSpPr>
        <p:spPr>
          <a:xfrm>
            <a:off x="4480560" y="2487168"/>
            <a:ext cx="144475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4480560" y="2487168"/>
            <a:ext cx="1444752" cy="45720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4599432" y="25877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DELEGACIA DA POLÍCIA CIVIL</a:t>
            </a:r>
            <a:endParaRPr lang="en-US" sz="800" dirty="0"/>
          </a:p>
        </p:txBody>
      </p:sp>
      <p:sp>
        <p:nvSpPr>
          <p:cNvPr id="301" name="Text 299"/>
          <p:cNvSpPr/>
          <p:nvPr/>
        </p:nvSpPr>
        <p:spPr>
          <a:xfrm>
            <a:off x="4599432" y="285292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 de entrada</a:t>
            </a:r>
            <a:endParaRPr lang="en-US" sz="920" dirty="0"/>
          </a:p>
        </p:txBody>
      </p:sp>
      <p:sp>
        <p:nvSpPr>
          <p:cNvPr id="302" name="Text 300"/>
          <p:cNvSpPr/>
          <p:nvPr/>
        </p:nvSpPr>
        <p:spPr>
          <a:xfrm>
            <a:off x="4599432" y="3182112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78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interior: das 8h às 12h e das 14h às 18h, de segunda a sexta</a:t>
            </a:r>
            <a:endParaRPr lang="en-US" sz="78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8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18 delegacias com plantão 24 horas</a:t>
            </a:r>
            <a:endParaRPr lang="en-US" sz="78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8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mulher repete a história para cada pessoa</a:t>
            </a:r>
            <a:endParaRPr lang="en-US" sz="780" dirty="0"/>
          </a:p>
        </p:txBody>
      </p:sp>
      <p:sp>
        <p:nvSpPr>
          <p:cNvPr id="303" name="Shape 301"/>
          <p:cNvSpPr/>
          <p:nvPr/>
        </p:nvSpPr>
        <p:spPr>
          <a:xfrm>
            <a:off x="5998464" y="2487168"/>
            <a:ext cx="144475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998464" y="2487168"/>
            <a:ext cx="1444752" cy="45720"/>
          </a:xfrm>
          <a:prstGeom prst="rect">
            <a:avLst/>
          </a:prstGeom>
          <a:solidFill>
            <a:srgbClr val="2C6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6117336" y="25877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C6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DELEGACIA DA MULHER (DEAM)</a:t>
            </a:r>
            <a:endParaRPr lang="en-US" sz="800" dirty="0"/>
          </a:p>
        </p:txBody>
      </p:sp>
      <p:sp>
        <p:nvSpPr>
          <p:cNvPr id="306" name="Text 304"/>
          <p:cNvSpPr/>
          <p:nvPr/>
        </p:nvSpPr>
        <p:spPr>
          <a:xfrm>
            <a:off x="6117336" y="285292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de mulher</a:t>
            </a:r>
            <a:endParaRPr lang="en-US" sz="920" dirty="0"/>
          </a:p>
        </p:txBody>
      </p:sp>
      <p:sp>
        <p:nvSpPr>
          <p:cNvPr id="307" name="Text 305"/>
          <p:cNvSpPr/>
          <p:nvPr/>
        </p:nvSpPr>
        <p:spPr>
          <a:xfrm>
            <a:off x="6117336" y="3182112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78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Jurídico e apoio psicossocial</a:t>
            </a:r>
            <a:endParaRPr lang="en-US" sz="78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8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onde há sede de DEAM</a:t>
            </a:r>
            <a:endParaRPr lang="en-US" sz="78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8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cobre quem mora longe</a:t>
            </a:r>
            <a:endParaRPr lang="en-US" sz="780" dirty="0"/>
          </a:p>
        </p:txBody>
      </p:sp>
      <p:sp>
        <p:nvSpPr>
          <p:cNvPr id="308" name="Shape 306"/>
          <p:cNvSpPr/>
          <p:nvPr/>
        </p:nvSpPr>
        <p:spPr>
          <a:xfrm>
            <a:off x="7516368" y="2487168"/>
            <a:ext cx="144475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7516368" y="2487168"/>
            <a:ext cx="1444752" cy="4572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7635240" y="25877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LILÁS</a:t>
            </a:r>
            <a:endParaRPr lang="en-US" sz="800" dirty="0"/>
          </a:p>
        </p:txBody>
      </p:sp>
      <p:sp>
        <p:nvSpPr>
          <p:cNvPr id="311" name="Text 309"/>
          <p:cNvSpPr/>
          <p:nvPr/>
        </p:nvSpPr>
        <p:spPr>
          <a:xfrm>
            <a:off x="7635240" y="285292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melhor acolhimento</a:t>
            </a:r>
            <a:endParaRPr lang="en-US" sz="920" dirty="0"/>
          </a:p>
        </p:txBody>
      </p:sp>
      <p:sp>
        <p:nvSpPr>
          <p:cNvPr id="312" name="Text 310"/>
          <p:cNvSpPr/>
          <p:nvPr/>
        </p:nvSpPr>
        <p:spPr>
          <a:xfrm>
            <a:off x="7635240" y="3182112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78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municípios, dentro da delegacia</a:t>
            </a:r>
            <a:endParaRPr lang="en-US" sz="78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8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Legista, enfermeira e assistente social</a:t>
            </a:r>
            <a:endParaRPr lang="en-US" sz="78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8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Acolhe sem repetir a história</a:t>
            </a:r>
            <a:endParaRPr lang="en-US" sz="780" dirty="0"/>
          </a:p>
        </p:txBody>
      </p:sp>
      <p:sp>
        <p:nvSpPr>
          <p:cNvPr id="313" name="Shape 311"/>
          <p:cNvSpPr/>
          <p:nvPr/>
        </p:nvSpPr>
        <p:spPr>
          <a:xfrm>
            <a:off x="4480560" y="4114800"/>
            <a:ext cx="4453128" cy="603504"/>
          </a:xfrm>
          <a:prstGeom prst="rect">
            <a:avLst/>
          </a:prstGeom>
          <a:solidFill>
            <a:srgbClr val="EFEAFB"/>
          </a:solidFill>
          <a:ln w="12700">
            <a:solidFill>
              <a:srgbClr val="E3DAF7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4663440" y="4187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TEM SALA LILÁS (3)</a:t>
            </a:r>
            <a:endParaRPr lang="en-US" sz="850" dirty="0"/>
          </a:p>
        </p:txBody>
      </p:sp>
      <p:sp>
        <p:nvSpPr>
          <p:cNvPr id="315" name="Text 313"/>
          <p:cNvSpPr/>
          <p:nvPr/>
        </p:nvSpPr>
        <p:spPr>
          <a:xfrm>
            <a:off x="4663440" y="4370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Anápolis  ·  Aparecida de Goiânia  ·  Goiânia</a:t>
            </a:r>
            <a:endParaRPr lang="en-US" sz="960" dirty="0"/>
          </a:p>
        </p:txBody>
      </p:sp>
      <p:sp>
        <p:nvSpPr>
          <p:cNvPr id="316" name="Text 314"/>
          <p:cNvSpPr/>
          <p:nvPr/>
        </p:nvSpPr>
        <p:spPr>
          <a:xfrm>
            <a:off x="7004304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NÃO TEM (243)</a:t>
            </a:r>
            <a:endParaRPr lang="en-US" sz="850" dirty="0"/>
          </a:p>
        </p:txBody>
      </p:sp>
      <p:sp>
        <p:nvSpPr>
          <p:cNvPr id="317" name="Text 315"/>
          <p:cNvSpPr/>
          <p:nvPr/>
        </p:nvSpPr>
        <p:spPr>
          <a:xfrm>
            <a:off x="7004304" y="4370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lista dos 243 municípios está no protótipo, tela Mapa da rede.</a:t>
            </a:r>
            <a:endParaRPr lang="en-US" sz="840" dirty="0"/>
          </a:p>
        </p:txBody>
      </p:sp>
      <p:sp>
        <p:nvSpPr>
          <p:cNvPr id="318" name="Text 316"/>
          <p:cNvSpPr/>
          <p:nvPr/>
        </p:nvSpPr>
        <p:spPr>
          <a:xfrm>
            <a:off x="4480560" y="4791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Polícia Científica de Goiás (Salas Lilás)  ·  Polícia Civil-GO (delegacias e horários)  ·  levantamento da equipe (246 municípios)  ·  mapa de cobertura, não geográfico</a:t>
            </a:r>
            <a:endParaRPr lang="en-US" sz="720" dirty="0"/>
          </a:p>
        </p:txBody>
      </p:sp>
      <p:sp>
        <p:nvSpPr>
          <p:cNvPr id="319" name="Text 317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NUNCA OUVIU FALAR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uma Sala Lilás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3886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64008" cy="1298448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813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sala dentro da delegacia de polícia, na unidade de medicina legal.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81728" y="1298448"/>
            <a:ext cx="3886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81728" y="1298448"/>
            <a:ext cx="64008" cy="1298448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813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ATENDE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1755648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Médica legista, enfermeira e assistente social, em equipe.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779776"/>
            <a:ext cx="3886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779776"/>
            <a:ext cx="64008" cy="1298448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626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236976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mulher é acolhida ali, sem repetir a história na frente de um policial e sem ser recontada para cada profissional.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81728" y="2779776"/>
            <a:ext cx="3886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2779776"/>
            <a:ext cx="64008" cy="1298448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9626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NÃO EXISTE MAIS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3236976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apenas três unidades no estado: Anápolis, Aparecida de Goiânia e Goiânia. Quem mora longe não chega.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315968"/>
            <a:ext cx="8001000" cy="475488"/>
          </a:xfrm>
          <a:prstGeom prst="rect">
            <a:avLst/>
          </a:prstGeom>
          <a:solidFill>
            <a:srgbClr val="EFEAFB"/>
          </a:solidFill>
          <a:ln w="12700">
            <a:solidFill>
              <a:srgbClr val="E3DA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44398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Sala Lilás é o melhor serviço de acolhimento que existe no Brasil, o problema não é o serviço: é a cobertura dele.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 QUE VEM PRIMEIRO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não basta ligar 180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180 existe e faz o que foi feito para fazer. A Cássia não o substitui: ela cobre o que o 180 deixa para trás.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C6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180 RESOLVE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10512"/>
            <a:ext cx="54864" cy="420624"/>
          </a:xfrm>
          <a:prstGeom prst="rect">
            <a:avLst/>
          </a:prstGeom>
          <a:solidFill>
            <a:srgbClr val="6FA8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9110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Atender uma emergência agora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322576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322576"/>
            <a:ext cx="54864" cy="420624"/>
          </a:xfrm>
          <a:prstGeom prst="rect">
            <a:avLst/>
          </a:prstGeom>
          <a:solidFill>
            <a:srgbClr val="6FA8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4231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Orientar o que fazer em minutos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834640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834640"/>
            <a:ext cx="54864" cy="420624"/>
          </a:xfrm>
          <a:prstGeom prst="rect">
            <a:avLst/>
          </a:prstGeom>
          <a:solidFill>
            <a:srgbClr val="6FA8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9352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Acionar a viatura quando há risco imediato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346704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346704"/>
            <a:ext cx="54864" cy="420624"/>
          </a:xfrm>
          <a:prstGeom prst="rect">
            <a:avLst/>
          </a:prstGeom>
          <a:solidFill>
            <a:srgbClr val="6FA8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4472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Acionar a rede de apoio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15179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180 DEIXA PARA TRÁS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1810512"/>
            <a:ext cx="3950208" cy="420624"/>
          </a:xfrm>
          <a:prstGeom prst="rect">
            <a:avLst/>
          </a:prstGeom>
          <a:solidFill>
            <a:srgbClr val="FBEAE8"/>
          </a:solidFill>
          <a:ln w="12700">
            <a:solidFill>
              <a:srgbClr val="F1CF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18928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19110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guarda nada: amanhã ela começa do zero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322576"/>
            <a:ext cx="3950208" cy="420624"/>
          </a:xfrm>
          <a:prstGeom prst="rect">
            <a:avLst/>
          </a:prstGeom>
          <a:solidFill>
            <a:srgbClr val="FBEAE8"/>
          </a:solidFill>
          <a:ln w="12700">
            <a:solidFill>
              <a:srgbClr val="F1CF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240487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24231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sabe o que está aberto agora a 300 km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2834640"/>
            <a:ext cx="3950208" cy="420624"/>
          </a:xfrm>
          <a:prstGeom prst="rect">
            <a:avLst/>
          </a:prstGeom>
          <a:solidFill>
            <a:srgbClr val="FBEAE8"/>
          </a:solidFill>
          <a:ln w="12700">
            <a:solidFill>
              <a:srgbClr val="F1CF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29169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29352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sabe se a delegacia mais próxima tem equipe de mulher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3346704"/>
            <a:ext cx="3950208" cy="420624"/>
          </a:xfrm>
          <a:prstGeom prst="rect">
            <a:avLst/>
          </a:prstGeom>
          <a:solidFill>
            <a:srgbClr val="FBEAE8"/>
          </a:solidFill>
          <a:ln w="12700">
            <a:solidFill>
              <a:srgbClr val="F1CF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342900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74920" y="34472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gera resumo para a equipe que vai atender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17720" y="3858768"/>
            <a:ext cx="3950208" cy="420624"/>
          </a:xfrm>
          <a:prstGeom prst="rect">
            <a:avLst/>
          </a:prstGeom>
          <a:solidFill>
            <a:srgbClr val="FBEAE8"/>
          </a:solidFill>
          <a:ln w="12700">
            <a:solidFill>
              <a:srgbClr val="F1CF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3941064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74920" y="39593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coragem e voz no pior momento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4297680"/>
            <a:ext cx="8001000" cy="676656"/>
          </a:xfrm>
          <a:prstGeom prst="rect">
            <a:avLst/>
          </a:prstGeom>
          <a:solidFill>
            <a:srgbClr val="EFEAFB"/>
          </a:solidFill>
          <a:ln w="12700">
            <a:solidFill>
              <a:srgbClr val="E3DA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37997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é um número. A Cássia é um plano. E o plano guarda o que ela contou até ela ter coragem de ir.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475488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tem coragem de ligar 180 na Cássia vira a pessoa mais bem atendida da rede.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Sala Lilás como software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casca muda. O cérebro não.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1591056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916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acolhimento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" y="1947672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Acolhe a qualquer hora, em linguagem simples, sem cadastro e sem telefone, e guarda o relato no cofre até ela ter coragem de ir.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6060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rede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" y="2862072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DEAM, CEAM, abrigo e Sala Lilás do município e diz onde dá para parar.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419856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5204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revisão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6384" y="3776472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humana decide. O agente organiza e mostra a origem de cada frase.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344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CASSIA PODE ESTAR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572768"/>
            <a:ext cx="1874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6916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9744" y="202082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construção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75120" y="1572768"/>
            <a:ext cx="1874520" cy="694944"/>
          </a:xfrm>
          <a:prstGeom prst="rect">
            <a:avLst/>
          </a:prstGeom>
          <a:solidFill>
            <a:srgbClr val="EFEAFB"/>
          </a:solidFill>
          <a:ln w="12700">
            <a:solidFill>
              <a:srgbClr val="E3DA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16916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Totem do CRAS e da UBS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21424" y="202082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414016"/>
            <a:ext cx="1874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253288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9744" y="286207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75120" y="2414016"/>
            <a:ext cx="1874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253288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e URA do 180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21424" y="286207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255264"/>
            <a:ext cx="1874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337413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e unidade de saúde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9744" y="370332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0" y="3255264"/>
            <a:ext cx="1874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1424" y="337413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Rodoviária e terminal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21424" y="370332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63440" y="42793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de ambiente é configuração, não reescrita do motor.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4663440" y="45354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que não é configuração: o cofre digital.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566928" y="480974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Polícia Científica de Goiás (Salas Lilás)  ·  goiás.gov.br/social (rede de atendimento)  ·  Painel Ligue 180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PARTE QUE NENHUM FORMULÁRIO TEM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cofre: guardar sem apressar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levar anos para uma mulher entender que tem saída. A Cássia guarda o relato cifrado, com um código só dela, até ela estar pronta.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3200400" cy="3035808"/>
          </a:xfrm>
          <a:prstGeom prst="rect">
            <a:avLst/>
          </a:prstGeom>
          <a:solidFill>
            <a:srgbClr val="1F1633"/>
          </a:solidFill>
          <a:ln w="12700">
            <a:solidFill>
              <a:srgbClr val="1F1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37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MEU COFRE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15184" y="1737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 agora.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quando estiver pronta.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4672" y="2889504"/>
            <a:ext cx="640080" cy="36576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98448" y="30632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D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 guardadas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3346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98448" y="33924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D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extraídos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36758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98448" y="37216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D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código, só dela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" y="4059936"/>
            <a:ext cx="2724912" cy="36576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1422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 CF-ZHUN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0" y="1536192"/>
            <a:ext cx="45902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1536192"/>
            <a:ext cx="54864" cy="676656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7952" y="16184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87952" y="1819656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mensagens como ela contou, com o trecho literal e o número da mensagem, e os campos com status: relatado, incerto, negado, não perguntado.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3977640" y="2313432"/>
            <a:ext cx="45902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2313432"/>
            <a:ext cx="54864" cy="676656"/>
          </a:xfrm>
          <a:prstGeom prst="rect">
            <a:avLst/>
          </a:prstGeom>
          <a:solidFill>
            <a:srgbClr val="B326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2395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NUNCA ENTRA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87952" y="2596896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Nome, telefone, endereço, foto, áudio, documento, geolocalização precisa e qualquer dado de terceiros. O agressor também é pessoa e também tem LGPD.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3977640" y="3090672"/>
            <a:ext cx="45902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7640" y="3090672"/>
            <a:ext cx="54864" cy="676656"/>
          </a:xfrm>
          <a:prstGeom prst="rect">
            <a:avLst/>
          </a:prstGeom>
          <a:solidFill>
            <a:srgbClr val="2C6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7952" y="31729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C6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FICA PROTEGIDO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87952" y="3374136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em repouso com chave por usuária. A chave de dados nunca é gravada junto do texto. Apagar o cofre apaga a chave: o conteúdo deixa de existir.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3977640" y="3867912"/>
            <a:ext cx="45902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77640" y="3867912"/>
            <a:ext cx="54864" cy="676656"/>
          </a:xfrm>
          <a:prstGeom prst="rect">
            <a:avLst/>
          </a:prstGeom>
          <a:solidFill>
            <a:srgbClr val="7A5B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87952" y="39502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5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NÃO EXPIRA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87952" y="4151376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curto puniria justamente quem demora. O cofre não expira sozinho: expira quando ela decide, ou quando a chave é revogada.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3977640" y="4608576"/>
            <a:ext cx="4114800" cy="384048"/>
          </a:xfrm>
          <a:prstGeom prst="rect">
            <a:avLst/>
          </a:prstGeom>
          <a:solidFill>
            <a:srgbClr val="EFEAFB"/>
          </a:solidFill>
          <a:ln w="12700">
            <a:solidFill>
              <a:srgbClr val="E3DA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9664" y="4672584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relato nunca entra no banco vetorial: o vetorial guarda só lei e página oficial.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roteador e oito especialistas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0972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 com uma responsabilidade verificável. A demo mostra a chamada, não uma caixa-preta.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2606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08176"/>
            <a:ext cx="2606040" cy="4572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361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Roteador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7922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o caminho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4408" y="1408176"/>
            <a:ext cx="2606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408176"/>
            <a:ext cx="2606040" cy="4572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5361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Acolhedora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17922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a resposta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61888" y="1408176"/>
            <a:ext cx="2606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61888" y="1408176"/>
            <a:ext cx="2606040" cy="4572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5361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Investigadora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08192" y="17922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 e pergunta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2194560"/>
            <a:ext cx="2606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194560"/>
            <a:ext cx="2606040" cy="4572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3225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Territorial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2578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a rede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64408" y="2194560"/>
            <a:ext cx="2606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64408" y="2194560"/>
            <a:ext cx="2606040" cy="4572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23225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10712" y="2578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a lei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61888" y="2194560"/>
            <a:ext cx="2606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61888" y="2194560"/>
            <a:ext cx="2606040" cy="4572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23225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08192" y="2578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 a origem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2980944"/>
            <a:ext cx="2606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2980944"/>
            <a:ext cx="2606040" cy="4572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108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Redatora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3232" y="3364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 o resumo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64408" y="2980944"/>
            <a:ext cx="2606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64408" y="2980944"/>
            <a:ext cx="2606040" cy="4572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3108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10712" y="3364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no cofre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61888" y="2980944"/>
            <a:ext cx="2606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61888" y="2980944"/>
            <a:ext cx="2606040" cy="4572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3108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08192" y="3364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a trilha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" y="376732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Guardião de segurança, que roda fora do modelo: injeção, PII, sensor de manuseio e botão de saída rápida.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" y="4023360"/>
            <a:ext cx="7726680" cy="822960"/>
          </a:xfrm>
          <a:prstGeom prst="rect">
            <a:avLst/>
          </a:prstGeom>
          <a:solidFill>
            <a:srgbClr val="EFEAFB"/>
          </a:solidFill>
          <a:ln w="12700">
            <a:solidFill>
              <a:srgbClr val="E3DA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133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CADA DADO MORA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22960" y="43891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VETOR = norma pública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91840" y="43891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RELACIONAL = rede e rotas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760720" y="43891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COFRE = relato da mulher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" y="46085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relato nunca entra no banco vetorial: só lei e página oficial entram.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QUE A BANCA VAI FAZER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o relato for falso?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CÁSSIA GARANTE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44752"/>
            <a:ext cx="64008" cy="54864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087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Procedência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17282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frase do resumo carrega o trecho literal e o número da mensagem.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084832"/>
            <a:ext cx="64008" cy="54864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1488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Lacuna declarada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6384" y="236829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"Não sei" nunca vira "não", e nada é preenchido por adivinhação.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66928" y="2724912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724912"/>
            <a:ext cx="64008" cy="54864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7889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Contradição visível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300837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 versões ficam lado a lado. A IA não escolhe.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66928" y="3364992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364992"/>
            <a:ext cx="64008" cy="548640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4290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Confirmação da mulher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6384" y="36484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é entregue sem ela ver e confirmar antes.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4800600" y="1188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IA NÃO FAZ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1444752"/>
            <a:ext cx="3767328" cy="2286000"/>
          </a:xfrm>
          <a:prstGeom prst="rect">
            <a:avLst/>
          </a:prstGeom>
          <a:solidFill>
            <a:srgbClr val="FBEAE8"/>
          </a:solidFill>
          <a:ln w="12700">
            <a:solidFill>
              <a:srgbClr val="F1CF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76672" y="1664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classifica risco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47488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76672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aciona a polícia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47488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76672" y="2724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gera denúncia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47488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76672" y="32552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decide o que a equipe registra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4059936"/>
            <a:ext cx="7726680" cy="731520"/>
          </a:xfrm>
          <a:prstGeom prst="rect">
            <a:avLst/>
          </a:prstGeom>
          <a:solidFill>
            <a:srgbClr val="EFEAFB"/>
          </a:solidFill>
          <a:ln w="12700">
            <a:solidFill>
              <a:srgbClr val="E3DA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151376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verificação não descobre se a história é verdadeira: ninguém descobre lendo texto. Ela garante a procedência e devolve a decisão a profissional. O ganho real é derrubar o custo da verificação humana.</a:t>
            </a:r>
            <a:endParaRPr lang="en-US" sz="1160" dirty="0"/>
          </a:p>
        </p:txBody>
      </p:sp>
      <p:sp>
        <p:nvSpPr>
          <p:cNvPr id="33" name="Text 31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DETALHE QUE NINGUÉM MAIS TEM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celular não é só dela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agressor controla o aparelho, uma tela com a palavra "violência" entrega tudo. A Cássia troca a casca.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609344"/>
            <a:ext cx="248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09344"/>
            <a:ext cx="2487168" cy="54864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7922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FACHADA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8096" y="2103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vira calculadora, bloco de notas ou conversa com uma amiga. As palavras sensíveis são trocadas na máquina, sem chamar o modelo.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328416" y="1609344"/>
            <a:ext cx="248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28416" y="1609344"/>
            <a:ext cx="2487168" cy="54864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7922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 DE MANUSEIO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29584" y="2103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giroscópio avisa quando o aparelho muda de mãos e a tela se mascara sozinha. Não identifica ninguém: é só um aviso de exposição.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089904" y="1609344"/>
            <a:ext cx="248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9904" y="1609344"/>
            <a:ext cx="2487168" cy="54864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7922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BOTAO DE SAÍDA RÁPIDA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91072" y="2103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toque devolve a tela normal, pausa a conversa e apaga a sessão. O sensor pode errar; o botão nunca.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566928" y="3931920"/>
            <a:ext cx="8001000" cy="713232"/>
          </a:xfrm>
          <a:prstGeom prst="rect">
            <a:avLst/>
          </a:prstGeom>
          <a:solidFill>
            <a:srgbClr val="EFEAFB"/>
          </a:solidFill>
          <a:ln w="12700">
            <a:solidFill>
              <a:srgbClr val="E3DA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07822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importa no negócio: a mulher que não se sente segura para abrir o app não vira atendimento. A Cássia amplia o alcance da rede sem ampliar o risco de exposição da mulher.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566928" y="47365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sensor roda só em primeiro plano, sem gravar padrão de movimento e sem identificar ninguém. O botão de saída rápida não avisa ninguém: ele apaga a tela, porque a Cássia nunca aciona a polícia.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AO VIVO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segundos, seis telas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252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5179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4944" y="1865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" y="213969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 municípios, três camadas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92224" y="20116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A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29384" y="1371600"/>
            <a:ext cx="12252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5179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57400" y="1865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57400" y="213969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dá para parar e onde não dá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54680" y="20116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A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12252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15179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19856" y="1865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9856" y="213969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Joana conta: extrai 9 campos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17136" y="20116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A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54296" y="1371600"/>
            <a:ext cx="12252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15179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82312" y="1865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82312" y="213969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cifrado, código só dela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79592" y="20116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A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016752" y="1371600"/>
            <a:ext cx="1225296" cy="1572768"/>
          </a:xfrm>
          <a:prstGeom prst="rect">
            <a:avLst/>
          </a:prstGeom>
          <a:solidFill>
            <a:srgbClr val="EFEAFB"/>
          </a:solidFill>
          <a:ln w="12700">
            <a:solidFill>
              <a:srgbClr val="E3DA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5179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44768" y="1865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44768" y="213969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vê a origem de cada frase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42048" y="20116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A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379208" y="1371600"/>
            <a:ext cx="12252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15179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07224" y="1865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07224" y="213969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vira calculadora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3163824"/>
            <a:ext cx="8001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31012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BANCA DEVE OLHAR NA TELA 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1248" y="358444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"Relatado" tem trecho literal e número da mensagem  ·  </a:t>
            </a:r>
            <a:pPr indent="0" marL="0">
              <a:buNone/>
            </a:pPr>
            <a:r>
              <a:rPr lang="en-US" sz="125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"Não perguntado" nunca virou "não"  ·  </a:t>
            </a:r>
            <a:pPr indent="0" marL="0">
              <a:buNone/>
            </a:pPr>
            <a:r>
              <a:rPr lang="en-US" sz="125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contradição preservada  ·  nenhuma decisão tomada pela IA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41248" y="42793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 navegável, dados de rede marcados como estimativa e fonte oficial conferida em tela. Na tela 4 o relato fica guardado: a Cássia não apressa ninguém.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NEGÓCIO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paga e o que fica com a gente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80160"/>
            <a:ext cx="64008" cy="676656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71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Comprador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16093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 estadual, prefeituras e a Polícia Científica.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66928" y="2066544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066544"/>
            <a:ext cx="64008" cy="676656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1579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mulher nunca paga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3957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cria cadastro, nem entrega telefone. O recurso vem do orçamento de proteção, que já existe.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66928" y="2852928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852928"/>
            <a:ext cx="64008" cy="676656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9443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3182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Implantação por unidade + assinatura institucional anual de operação e atualização da base territorial.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66928" y="3639312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639312"/>
            <a:ext cx="64008" cy="676656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7307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 próprio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6384" y="39684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dos 246 municípios de Goiás com DEAM, CEAM, abrigo e Sala Lilás, verificado e versionado.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800600" y="1280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A6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DO PILOTO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1609344"/>
            <a:ext cx="3767328" cy="786384"/>
          </a:xfrm>
          <a:prstGeom prst="rect">
            <a:avLst/>
          </a:prstGeom>
          <a:solidFill>
            <a:srgbClr val="EFEAFB"/>
          </a:solidFill>
          <a:ln w="12700">
            <a:solidFill>
              <a:srgbClr val="E3DA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1755648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309360" y="18836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história contada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00600" y="2523744"/>
            <a:ext cx="3767328" cy="786384"/>
          </a:xfrm>
          <a:prstGeom prst="rect">
            <a:avLst/>
          </a:prstGeom>
          <a:solidFill>
            <a:srgbClr val="EFEAFB"/>
          </a:solidFill>
          <a:ln w="12700">
            <a:solidFill>
              <a:srgbClr val="E3DA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670048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309360" y="27980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"não sei" virar "não"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00600" y="3438144"/>
            <a:ext cx="3767328" cy="786384"/>
          </a:xfrm>
          <a:prstGeom prst="rect">
            <a:avLst/>
          </a:prstGeom>
          <a:solidFill>
            <a:srgbClr val="EFEAFB"/>
          </a:solidFill>
          <a:ln w="12700">
            <a:solidFill>
              <a:srgbClr val="E3DA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3584448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309360" y="37124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frases com origem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4590288"/>
            <a:ext cx="8001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levantamento da equipe (246 municípios)  ·  IBGE Censo 2022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81328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PEDIDO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termo de cooperação com uma Sala Lilás e um advisor de assistência social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029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64008" cy="621792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1965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Sala Lilás como software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05740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mesmo acolhimento em qualquer ambiente onde a mulher estiver.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432304"/>
            <a:ext cx="5029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432304"/>
            <a:ext cx="64008" cy="621792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51460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cofre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" y="275234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relato fica guardado, cifrado, até ela ter coragem de ir. Formulário apressa; cofre espera.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127248"/>
            <a:ext cx="5029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127248"/>
            <a:ext cx="64008" cy="621792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20954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que organiza, gente que decide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" y="344728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garante procedência; a profissional decide o que é registrado.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822192"/>
            <a:ext cx="5029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822192"/>
            <a:ext cx="64008" cy="621792"/>
          </a:xfrm>
          <a:prstGeom prst="rect">
            <a:avLst/>
          </a:prstGeom>
          <a:solidFill>
            <a:srgbClr val="9A6B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9044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próprio e verificável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41422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 municípios mapeados, com status de verificação em cada ponto.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79008" y="1737360"/>
            <a:ext cx="2651760" cy="2834640"/>
          </a:xfrm>
          <a:prstGeom prst="rect">
            <a:avLst/>
          </a:prstGeom>
          <a:solidFill>
            <a:srgbClr val="FBEAE8"/>
          </a:solidFill>
          <a:ln w="12700">
            <a:solidFill>
              <a:srgbClr val="F1CF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0176" y="18653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spc="15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PERGUNTAREM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5980176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Sala Lilás?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5980176" y="228600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sala na delegacia com equipe de saúde e de assistência social.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0176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só ligar 180?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5980176" y="29260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é um número, não um plano: não guarda nada e não sabe o que está aberto agora.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80176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for falso?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5980176" y="356616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Procedência garantida, decisão humana, zero ação automática.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80176" y="4023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7A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IA?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5980176" y="4206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o agente sobra um formulário que não sabe a lacuna nem a rede.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4517136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Cássia  ·  AKCIT Camp Multicêntrico 2026  ·  Goiânia, 24/10/2026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4663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Cassia - a Sala Lilas virtualizada</dc:title>
  <dc:subject>AKCIT Camp Multicentrico 2026</dc:subject>
  <dc:creator>Equipe Cassia</dc:creator>
  <cp:lastModifiedBy>Equipe Cassia</cp:lastModifiedBy>
  <cp:revision>1</cp:revision>
  <dcterms:created xsi:type="dcterms:W3CDTF">2026-10-24T17:58:47Z</dcterms:created>
  <dcterms:modified xsi:type="dcterms:W3CDTF">2026-10-24T17:58:47Z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{"Label":"1","ContentProducer":"MiniMax AI","ProduceID":"user:452597560417943556/node:455899088728345/ts:1792864850809","ReservedCode1":"","ContentPropagator":"MiniMax AI","PropagateID":"user:452597560417943556/node:455899088728345/ts:1792864850809","ReservedCode2":""}</vt:lpwstr>
  </property>
</Properties>
</file>